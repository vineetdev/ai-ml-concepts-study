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87" r:id="rId2"/>
    <p:sldId id="322" r:id="rId3"/>
    <p:sldId id="317" r:id="rId4"/>
    <p:sldId id="316" r:id="rId5"/>
    <p:sldId id="318" r:id="rId6"/>
    <p:sldId id="323" r:id="rId7"/>
    <p:sldId id="319" r:id="rId8"/>
    <p:sldId id="320" r:id="rId9"/>
    <p:sldId id="321" r:id="rId1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D40100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86" autoAdjust="0"/>
    <p:restoredTop sz="95781" autoAdjust="0"/>
  </p:normalViewPr>
  <p:slideViewPr>
    <p:cSldViewPr snapToGrid="0">
      <p:cViewPr varScale="1">
        <p:scale>
          <a:sx n="59" d="100"/>
          <a:sy n="59" d="100"/>
        </p:scale>
        <p:origin x="992" y="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kta Srivastava" userId="6d4a75d3-7b1f-40c6-8592-2342d3548d62" providerId="ADAL" clId="{34B5F09D-6283-4A6F-99CF-73EB0B0C1F6E}"/>
    <pc:docChg chg="modSld">
      <pc:chgData name="Ekta Srivastava" userId="6d4a75d3-7b1f-40c6-8592-2342d3548d62" providerId="ADAL" clId="{34B5F09D-6283-4A6F-99CF-73EB0B0C1F6E}" dt="2024-11-11T05:07:41.611" v="1" actId="20577"/>
      <pc:docMkLst>
        <pc:docMk/>
      </pc:docMkLst>
      <pc:sldChg chg="modSp mod">
        <pc:chgData name="Ekta Srivastava" userId="6d4a75d3-7b1f-40c6-8592-2342d3548d62" providerId="ADAL" clId="{34B5F09D-6283-4A6F-99CF-73EB0B0C1F6E}" dt="2024-11-11T05:07:41.611" v="1" actId="20577"/>
        <pc:sldMkLst>
          <pc:docMk/>
          <pc:sldMk cId="150379076" sldId="287"/>
        </pc:sldMkLst>
        <pc:spChg chg="mod">
          <ac:chgData name="Ekta Srivastava" userId="6d4a75d3-7b1f-40c6-8592-2342d3548d62" providerId="ADAL" clId="{34B5F09D-6283-4A6F-99CF-73EB0B0C1F6E}" dt="2024-11-11T05:07:41.611" v="1" actId="20577"/>
          <ac:spMkLst>
            <pc:docMk/>
            <pc:sldMk cId="150379076" sldId="287"/>
            <ac:spMk id="8" creationId="{D078B105-07B1-0535-6D75-4940D7E6E42A}"/>
          </ac:spMkLst>
        </pc:spChg>
      </pc:sldChg>
    </pc:docChg>
  </pc:docChgLst>
  <pc:docChgLst>
    <pc:chgData name="Manabendra Saharia" userId="372721ec-1061-4aab-aad5-5c82bbad8310" providerId="ADAL" clId="{A7029F6F-5F4A-6C43-B689-7966CF571C5B}"/>
    <pc:docChg chg="addSld delSld modSld">
      <pc:chgData name="Manabendra Saharia" userId="372721ec-1061-4aab-aad5-5c82bbad8310" providerId="ADAL" clId="{A7029F6F-5F4A-6C43-B689-7966CF571C5B}" dt="2023-09-24T06:36:14.649" v="37" actId="2696"/>
      <pc:docMkLst>
        <pc:docMk/>
      </pc:docMkLst>
      <pc:sldChg chg="modSp mod">
        <pc:chgData name="Manabendra Saharia" userId="372721ec-1061-4aab-aad5-5c82bbad8310" providerId="ADAL" clId="{A7029F6F-5F4A-6C43-B689-7966CF571C5B}" dt="2023-09-24T06:36:12.794" v="36" actId="20577"/>
        <pc:sldMkLst>
          <pc:docMk/>
          <pc:sldMk cId="2151882148" sldId="318"/>
        </pc:sldMkLst>
        <pc:spChg chg="mod">
          <ac:chgData name="Manabendra Saharia" userId="372721ec-1061-4aab-aad5-5c82bbad8310" providerId="ADAL" clId="{A7029F6F-5F4A-6C43-B689-7966CF571C5B}" dt="2023-09-24T06:36:12.794" v="36" actId="20577"/>
          <ac:spMkLst>
            <pc:docMk/>
            <pc:sldMk cId="2151882148" sldId="318"/>
            <ac:spMk id="3" creationId="{A18FA631-E5DE-38FB-3631-5247D3FA94E0}"/>
          </ac:spMkLst>
        </pc:spChg>
      </pc:sldChg>
      <pc:sldChg chg="add del">
        <pc:chgData name="Manabendra Saharia" userId="372721ec-1061-4aab-aad5-5c82bbad8310" providerId="ADAL" clId="{A7029F6F-5F4A-6C43-B689-7966CF571C5B}" dt="2023-09-24T06:36:14.649" v="37" actId="2696"/>
        <pc:sldMkLst>
          <pc:docMk/>
          <pc:sldMk cId="2845196125" sldId="3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EDE0417-F54B-42B9-B6DD-E7EE48A4B191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FA6F960-9BDB-45A8-91C0-D79A73FD25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6950115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8E55364-5615-482A-B28A-5F5A5326E070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3E7B7E7-1BE7-4EFB-A4DD-874CE1CF9C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465350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747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404A0B9-D83A-4722-A17F-DC0228F239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462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485" y="1105627"/>
            <a:ext cx="11859027" cy="5156627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66485" y="218261"/>
            <a:ext cx="10692015" cy="556112"/>
          </a:xfr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1027986" y="52448"/>
            <a:ext cx="997527" cy="9975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7753256-96F0-BF95-9F7A-0DF59CD83CB3}"/>
              </a:ext>
            </a:extLst>
          </p:cNvPr>
          <p:cNvSpPr/>
          <p:nvPr userDrawn="1"/>
        </p:nvSpPr>
        <p:spPr>
          <a:xfrm>
            <a:off x="0" y="6572250"/>
            <a:ext cx="12192000" cy="280843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40100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70030" y="6533886"/>
            <a:ext cx="521970" cy="307777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742B7CED-DC51-4976-975C-28F89E3EDFC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/>
          <p:cNvSpPr txBox="1"/>
          <p:nvPr userDrawn="1"/>
        </p:nvSpPr>
        <p:spPr>
          <a:xfrm>
            <a:off x="2088356" y="6550223"/>
            <a:ext cx="80152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AI/ML for Industry, Continuing Education Programme, Indian Institute of Technology Delhi</a:t>
            </a:r>
            <a:endParaRPr lang="en-IN" sz="1400" b="1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727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6611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huggingface.co/datasets/ujs/hinglish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A876980-17C6-FEBF-97F0-4FD8C8D6B2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22" b="12222"/>
          <a:stretch/>
        </p:blipFill>
        <p:spPr>
          <a:xfrm>
            <a:off x="-3049" y="-79895"/>
            <a:ext cx="12191999" cy="6857990"/>
          </a:xfrm>
          <a:prstGeom prst="rect">
            <a:avLst/>
          </a:prstGeom>
          <a:noFill/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097280" y="-4134"/>
            <a:ext cx="10058400" cy="194100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Hinglish (Hindi-English Code switched) </a:t>
            </a:r>
            <a:b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Speech Recognition </a:t>
            </a:r>
            <a:endParaRPr lang="en-GB" sz="4400" b="1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A722B18-C738-E15E-ECEA-0838DA7DB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3752" y="5369748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AI/ML for Industry</a:t>
            </a:r>
          </a:p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Continuing Education Programme</a:t>
            </a:r>
          </a:p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Indian Institute of Technology Delhi</a:t>
            </a:r>
          </a:p>
          <a:p>
            <a:endParaRPr lang="en-US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78B105-07B1-0535-6D75-4940D7E6E42A}"/>
              </a:ext>
            </a:extLst>
          </p:cNvPr>
          <p:cNvSpPr txBox="1">
            <a:spLocks/>
          </p:cNvSpPr>
          <p:nvPr/>
        </p:nvSpPr>
        <p:spPr>
          <a:xfrm>
            <a:off x="1097280" y="3656814"/>
            <a:ext cx="10058400" cy="11262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Vineet Kumar Srivastava</a:t>
            </a:r>
          </a:p>
          <a:p>
            <a:endParaRPr lang="en-US" sz="2800" b="1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22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21/02/2026</a:t>
            </a:r>
          </a:p>
        </p:txBody>
      </p:sp>
    </p:spTree>
    <p:extLst>
      <p:ext uri="{BB962C8B-B14F-4D97-AF65-F5344CB8AC3E}">
        <p14:creationId xmlns:p14="http://schemas.microsoft.com/office/powerpoint/2010/main" val="150379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40662-C722-85F5-4F4E-286F099D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56950D-0DEC-63D7-1941-C65F15336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557" y="1105627"/>
            <a:ext cx="11859027" cy="51566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ASR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has evolved from probabilistic models (Hidden Markov Model, Gaussian Mixture Model) to deep-learning architectures including RNN-T and transformer sequence-to-sequence model like whisper.</a:t>
            </a:r>
          </a:p>
          <a:p>
            <a:pPr marL="0" indent="0">
              <a:buNone/>
            </a:pP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Field underwent a paradigm shift with </a:t>
            </a:r>
            <a:r>
              <a:rPr lang="en-US" dirty="0"/>
              <a:t>Whisper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( a transformer sequence-to-sequence model)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Its features: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Multilingual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Adaptability to suit specific use-cases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	High accuracy and robustness to noise </a:t>
            </a:r>
          </a:p>
          <a:p>
            <a:pPr marL="457200" lvl="1" indent="0">
              <a:buNone/>
            </a:pPr>
            <a:endParaRPr lang="en-US" sz="1800" dirty="0">
              <a:solidFill>
                <a:schemeClr val="accent1">
                  <a:lumMod val="50000"/>
                </a:schemeClr>
              </a:solidFill>
            </a:endParaRPr>
          </a:p>
          <a:p>
            <a:pPr marL="228600" lvl="1">
              <a:spcBef>
                <a:spcPts val="1000"/>
              </a:spcBef>
            </a:pP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Existing ASR systems are trained on </a:t>
            </a:r>
            <a:r>
              <a:rPr lang="en-US" sz="2800" dirty="0"/>
              <a:t>monolingual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 corpora i.e. language specific.</a:t>
            </a:r>
          </a:p>
          <a:p>
            <a:pPr marL="457200" lvl="1" indent="0">
              <a:buNone/>
            </a:pPr>
            <a:endParaRPr lang="en-US" sz="1800" dirty="0"/>
          </a:p>
          <a:p>
            <a:pPr marL="457200" lvl="1" indent="0">
              <a:buNone/>
            </a:pPr>
            <a:endParaRPr lang="en-US" sz="1800" dirty="0"/>
          </a:p>
          <a:p>
            <a:pPr lvl="1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BB9062-34FE-D7BC-D1E8-05F01FE2E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5FD8D-8A49-9534-7AC8-8B08D586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504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Code-Switching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Practice of alternating between two or more languages or language varieties in a single discourse 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    Example: “kal meeting schedule </a:t>
            </a:r>
            <a:r>
              <a:rPr lang="en-US" sz="2000" dirty="0" err="1">
                <a:solidFill>
                  <a:schemeClr val="accent1">
                    <a:lumMod val="50000"/>
                  </a:schemeClr>
                </a:solidFill>
              </a:rPr>
              <a:t>kar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1">
                    <a:lumMod val="50000"/>
                  </a:schemeClr>
                </a:solidFill>
              </a:rPr>
              <a:t>dena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”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kal – Hindi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meeting – English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schedule – English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</a:rPr>
              <a:t>kar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– Hindi 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</a:rPr>
              <a:t>dena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– Hindi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</a:rPr>
              <a:t>   switching within a sentence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     </a:t>
            </a:r>
          </a:p>
          <a:p>
            <a:r>
              <a:rPr lang="en-US" dirty="0"/>
              <a:t>Why code switching is hard for ASR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1">
                    <a:lumMod val="50000"/>
                  </a:schemeClr>
                </a:solidFill>
              </a:rPr>
              <a:t>Traditional ASR assumes one language, one language model and one phoneme inventory.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1">
                    <a:lumMod val="50000"/>
                  </a:schemeClr>
                </a:solidFill>
              </a:rPr>
              <a:t>But Hinglish as Hindi grammar as well as English words, Indian accented English, Mixed phonetics and variable pronunciation.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chemeClr val="accent1">
                    <a:lumMod val="50000"/>
                  </a:schemeClr>
                </a:solidFill>
              </a:rPr>
              <a:t>Causes confusion in language modelling.</a:t>
            </a:r>
          </a:p>
          <a:p>
            <a:pPr marL="457200" lvl="1" indent="0">
              <a:buNone/>
            </a:pPr>
            <a:endParaRPr lang="en-US" sz="1800" dirty="0"/>
          </a:p>
          <a:p>
            <a:pPr marL="457200" lvl="1" indent="0">
              <a:buNone/>
            </a:pPr>
            <a:endParaRPr lang="en-US" sz="1800" dirty="0"/>
          </a:p>
          <a:p>
            <a:pPr lvl="1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927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C8DEAC-54BA-B583-6907-CCE100DD5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design and empirically evaluate a parameter-efficient fine-tuning ASR framework that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Reduces Word Error Rate (WER) on Hinglish speech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Enhances robustness across multiple SNR conditions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Preserves multilingual generalization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Operates within limited computational constraints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 </a:t>
            </a:r>
          </a:p>
          <a:p>
            <a:r>
              <a:rPr lang="en-US" dirty="0"/>
              <a:t>Measurable Research Goals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	Achieve significant WER reduction over baseline Whisper-base.</a:t>
            </a:r>
          </a:p>
          <a:p>
            <a:pPr marL="457200" lvl="1" indent="0">
              <a:buNone/>
            </a:pP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	Quantify performance across SNR levels (5-20dB)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3E50F7-CBC5-7E41-1D6A-EB517912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FCA93D-64BC-ADD3-BC93-C7E29E36B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32813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485" y="1105627"/>
            <a:ext cx="11859027" cy="5295173"/>
          </a:xfrm>
        </p:spPr>
        <p:txBody>
          <a:bodyPr/>
          <a:lstStyle/>
          <a:p>
            <a:r>
              <a:rPr lang="en-US" dirty="0"/>
              <a:t>Model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Dataset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sz="2000" dirty="0">
                <a:hlinkClick r:id="rId2"/>
              </a:rPr>
              <a:t>https://huggingface.co/datasets/ujs/hinglish</a:t>
            </a:r>
            <a:r>
              <a:rPr lang="en-US" sz="2000" dirty="0"/>
              <a:t>  - Hugging face wrapper for </a:t>
            </a:r>
            <a:r>
              <a:rPr lang="en-US" sz="2000" dirty="0" err="1"/>
              <a:t>OpenSLR</a:t>
            </a:r>
            <a:r>
              <a:rPr lang="en-US" sz="2000" dirty="0"/>
              <a:t> 104 </a:t>
            </a:r>
          </a:p>
          <a:p>
            <a:pPr marL="0" indent="0">
              <a:buNone/>
            </a:pPr>
            <a:r>
              <a:rPr lang="en-US" sz="2000" dirty="0"/>
              <a:t>	dataset by IIT Madras.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Methodology, Datasets, and Tools used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2858452-8024-2A95-20E6-5C535FE44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16" y="1654100"/>
            <a:ext cx="5751042" cy="2091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8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D82C-948E-462A-A8F1-E81EBF913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56A068-A323-3021-8E51-A6E9FF115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Methodology </a:t>
            </a:r>
          </a:p>
          <a:p>
            <a:pPr marL="0" indent="0">
              <a:buNone/>
            </a:pPr>
            <a:r>
              <a:rPr lang="en-US" dirty="0"/>
              <a:t>	Dataset preparation </a:t>
            </a:r>
            <a:r>
              <a:rPr lang="en-US" dirty="0">
                <a:sym typeface="Wingdings" panose="05000000000000000000" pitchFamily="2" charset="2"/>
              </a:rPr>
              <a:t> Fine-tuning  Metrics Comparison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Metrics: WER 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(Word Error Rate), </a:t>
            </a:r>
            <a:r>
              <a:rPr lang="en-US" dirty="0"/>
              <a:t>CER 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(Character Error Rate)</a:t>
            </a:r>
          </a:p>
          <a:p>
            <a:pPr marL="0" indent="0">
              <a:buNone/>
            </a:pP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/>
              <a:t>Deep Learning Framework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	</a:t>
            </a:r>
            <a:r>
              <a:rPr lang="en-US" sz="2000" dirty="0" err="1">
                <a:solidFill>
                  <a:schemeClr val="accent1">
                    <a:lumMod val="50000"/>
                  </a:schemeClr>
                </a:solidFill>
              </a:rPr>
              <a:t>Pytorch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Development Environment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Google </a:t>
            </a:r>
            <a:r>
              <a:rPr lang="en-US" sz="2000" dirty="0" err="1">
                <a:solidFill>
                  <a:schemeClr val="accent1">
                    <a:lumMod val="50000"/>
                  </a:schemeClr>
                </a:solidFill>
              </a:rPr>
              <a:t>colab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4834E64-8B09-D2D6-49D9-870969BAC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Methodology, Datasets, and Tools used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CC1B4-1DC2-4617-482A-F3F0CC01E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29825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17432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2760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7291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1093</TotalTime>
  <Words>352</Words>
  <Application>Microsoft Office PowerPoint</Application>
  <PresentationFormat>Widescreen</PresentationFormat>
  <Paragraphs>82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Garamond</vt:lpstr>
      <vt:lpstr>Lato</vt:lpstr>
      <vt:lpstr>Wingdings</vt:lpstr>
      <vt:lpstr>Office Theme</vt:lpstr>
      <vt:lpstr>Hinglish (Hindi-English Code switched)  Speech Recognition </vt:lpstr>
      <vt:lpstr>Background</vt:lpstr>
      <vt:lpstr>Background</vt:lpstr>
      <vt:lpstr>Problem Statement</vt:lpstr>
      <vt:lpstr>Methodology, Datasets, and Tools used</vt:lpstr>
      <vt:lpstr>Methodology, Datasets, and Tools used</vt:lpstr>
      <vt:lpstr>Results 1</vt:lpstr>
      <vt:lpstr>Results 2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RESPOND PROJECT</dc:title>
  <dc:creator>Ankita</dc:creator>
  <cp:lastModifiedBy>Vineet Srivastava</cp:lastModifiedBy>
  <cp:revision>128</cp:revision>
  <cp:lastPrinted>2021-11-16T14:38:43Z</cp:lastPrinted>
  <dcterms:created xsi:type="dcterms:W3CDTF">2016-11-08T06:06:47Z</dcterms:created>
  <dcterms:modified xsi:type="dcterms:W3CDTF">2026-02-18T13:38:27Z</dcterms:modified>
</cp:coreProperties>
</file>