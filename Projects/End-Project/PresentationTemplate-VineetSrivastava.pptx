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87" r:id="rId2"/>
    <p:sldId id="317" r:id="rId3"/>
    <p:sldId id="322" r:id="rId4"/>
    <p:sldId id="316" r:id="rId5"/>
    <p:sldId id="318" r:id="rId6"/>
    <p:sldId id="319" r:id="rId7"/>
    <p:sldId id="320" r:id="rId8"/>
    <p:sldId id="321" r:id="rId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00000"/>
    <a:srgbClr val="D40100"/>
    <a:srgbClr val="66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286" autoAdjust="0"/>
    <p:restoredTop sz="95781" autoAdjust="0"/>
  </p:normalViewPr>
  <p:slideViewPr>
    <p:cSldViewPr snapToGrid="0">
      <p:cViewPr varScale="1">
        <p:scale>
          <a:sx n="59" d="100"/>
          <a:sy n="59" d="100"/>
        </p:scale>
        <p:origin x="992" y="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5" d="100"/>
          <a:sy n="85" d="100"/>
        </p:scale>
        <p:origin x="3804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kta Srivastava" userId="6d4a75d3-7b1f-40c6-8592-2342d3548d62" providerId="ADAL" clId="{34B5F09D-6283-4A6F-99CF-73EB0B0C1F6E}"/>
    <pc:docChg chg="modSld">
      <pc:chgData name="Ekta Srivastava" userId="6d4a75d3-7b1f-40c6-8592-2342d3548d62" providerId="ADAL" clId="{34B5F09D-6283-4A6F-99CF-73EB0B0C1F6E}" dt="2024-11-11T05:07:41.611" v="1" actId="20577"/>
      <pc:docMkLst>
        <pc:docMk/>
      </pc:docMkLst>
      <pc:sldChg chg="modSp mod">
        <pc:chgData name="Ekta Srivastava" userId="6d4a75d3-7b1f-40c6-8592-2342d3548d62" providerId="ADAL" clId="{34B5F09D-6283-4A6F-99CF-73EB0B0C1F6E}" dt="2024-11-11T05:07:41.611" v="1" actId="20577"/>
        <pc:sldMkLst>
          <pc:docMk/>
          <pc:sldMk cId="150379076" sldId="287"/>
        </pc:sldMkLst>
        <pc:spChg chg="mod">
          <ac:chgData name="Ekta Srivastava" userId="6d4a75d3-7b1f-40c6-8592-2342d3548d62" providerId="ADAL" clId="{34B5F09D-6283-4A6F-99CF-73EB0B0C1F6E}" dt="2024-11-11T05:07:41.611" v="1" actId="20577"/>
          <ac:spMkLst>
            <pc:docMk/>
            <pc:sldMk cId="150379076" sldId="287"/>
            <ac:spMk id="8" creationId="{D078B105-07B1-0535-6D75-4940D7E6E42A}"/>
          </ac:spMkLst>
        </pc:spChg>
      </pc:sldChg>
    </pc:docChg>
  </pc:docChgLst>
  <pc:docChgLst>
    <pc:chgData name="Manabendra Saharia" userId="372721ec-1061-4aab-aad5-5c82bbad8310" providerId="ADAL" clId="{A7029F6F-5F4A-6C43-B689-7966CF571C5B}"/>
    <pc:docChg chg="addSld delSld modSld">
      <pc:chgData name="Manabendra Saharia" userId="372721ec-1061-4aab-aad5-5c82bbad8310" providerId="ADAL" clId="{A7029F6F-5F4A-6C43-B689-7966CF571C5B}" dt="2023-09-24T06:36:14.649" v="37" actId="2696"/>
      <pc:docMkLst>
        <pc:docMk/>
      </pc:docMkLst>
      <pc:sldChg chg="modSp mod">
        <pc:chgData name="Manabendra Saharia" userId="372721ec-1061-4aab-aad5-5c82bbad8310" providerId="ADAL" clId="{A7029F6F-5F4A-6C43-B689-7966CF571C5B}" dt="2023-09-24T06:36:12.794" v="36" actId="20577"/>
        <pc:sldMkLst>
          <pc:docMk/>
          <pc:sldMk cId="2151882148" sldId="318"/>
        </pc:sldMkLst>
        <pc:spChg chg="mod">
          <ac:chgData name="Manabendra Saharia" userId="372721ec-1061-4aab-aad5-5c82bbad8310" providerId="ADAL" clId="{A7029F6F-5F4A-6C43-B689-7966CF571C5B}" dt="2023-09-24T06:36:12.794" v="36" actId="20577"/>
          <ac:spMkLst>
            <pc:docMk/>
            <pc:sldMk cId="2151882148" sldId="318"/>
            <ac:spMk id="3" creationId="{A18FA631-E5DE-38FB-3631-5247D3FA94E0}"/>
          </ac:spMkLst>
        </pc:spChg>
      </pc:sldChg>
      <pc:sldChg chg="add del">
        <pc:chgData name="Manabendra Saharia" userId="372721ec-1061-4aab-aad5-5c82bbad8310" providerId="ADAL" clId="{A7029F6F-5F4A-6C43-B689-7966CF571C5B}" dt="2023-09-24T06:36:14.649" v="37" actId="2696"/>
        <pc:sldMkLst>
          <pc:docMk/>
          <pc:sldMk cId="2845196125" sldId="322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EDE0417-F54B-42B9-B6DD-E7EE48A4B191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EFA6F960-9BDB-45A8-91C0-D79A73FD257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6950115"/>
      </p:ext>
    </p:extLst>
  </p:cSld>
  <p:clrMap bg1="lt1" tx1="dk1" bg2="lt2" tx2="dk2" accent1="accent1" accent2="accent2" accent3="accent3" accent4="accent4" accent5="accent5" accent6="accent6" hlink="hlink" folHlink="folHlink"/>
  <p:hf sldNum="0"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8E55364-5615-482A-B28A-5F5A5326E070}" type="datetimeFigureOut">
              <a:rPr lang="en-IN" smtClean="0"/>
              <a:t>17-02-2026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3E7B7E7-1BE7-4EFB-A4DD-874CE1CF9C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9465350"/>
      </p:ext>
    </p:extLst>
  </p:cSld>
  <p:clrMap bg1="lt1" tx1="dk1" bg2="lt2" tx2="dk2" accent1="accent1" accent2="accent2" accent3="accent3" accent4="accent4" accent5="accent5" accent6="accent6" hlink="hlink" folHlink="folHlink"/>
  <p:hf sldNum="0"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9747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404A0B9-D83A-4722-A17F-DC0228F2392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74621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6485" y="1105627"/>
            <a:ext cx="11859027" cy="5156627"/>
          </a:xfrm>
        </p:spPr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 marL="685800" indent="-228600">
              <a:buFont typeface="Arial" panose="020B0604020202020204" pitchFamily="34" charset="0"/>
              <a:buChar char="•"/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 marL="1143000" indent="-228600">
              <a:buFont typeface="Arial" panose="020B0604020202020204" pitchFamily="34" charset="0"/>
              <a:buChar char="•"/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 marL="1600200" indent="-228600">
              <a:buFont typeface="Arial" panose="020B0604020202020204" pitchFamily="34" charset="0"/>
              <a:buChar char="•"/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 marL="2057400" indent="-228600">
              <a:buFont typeface="Arial" panose="020B0604020202020204" pitchFamily="34" charset="0"/>
              <a:buChar char="•"/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66485" y="218261"/>
            <a:ext cx="10692015" cy="556112"/>
          </a:xfr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pic>
        <p:nvPicPr>
          <p:cNvPr id="9" name="Picture 8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11027986" y="52448"/>
            <a:ext cx="997527" cy="9975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7753256-96F0-BF95-9F7A-0DF59CD83CB3}"/>
              </a:ext>
            </a:extLst>
          </p:cNvPr>
          <p:cNvSpPr/>
          <p:nvPr userDrawn="1"/>
        </p:nvSpPr>
        <p:spPr>
          <a:xfrm>
            <a:off x="0" y="6572250"/>
            <a:ext cx="12192000" cy="280843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D40100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70030" y="6533886"/>
            <a:ext cx="521970" cy="307777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</a:lstStyle>
          <a:p>
            <a:fld id="{742B7CED-DC51-4976-975C-28F89E3EDFC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7" name="TextBox 6"/>
          <p:cNvSpPr txBox="1"/>
          <p:nvPr userDrawn="1"/>
        </p:nvSpPr>
        <p:spPr>
          <a:xfrm>
            <a:off x="2088356" y="6550223"/>
            <a:ext cx="80152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AI/ML for Industry, Continuing Education Programme, Indian Institute of Technology Delhi</a:t>
            </a:r>
            <a:endParaRPr lang="en-IN" sz="1400" b="1" dirty="0">
              <a:solidFill>
                <a:schemeClr val="bg1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4727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6611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A876980-17C6-FEBF-97F0-4FD8C8D6B2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22" b="12222"/>
          <a:stretch/>
        </p:blipFill>
        <p:spPr>
          <a:xfrm>
            <a:off x="-3049" y="-79895"/>
            <a:ext cx="12191999" cy="6857990"/>
          </a:xfrm>
          <a:prstGeom prst="rect">
            <a:avLst/>
          </a:prstGeom>
          <a:noFill/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097280" y="-4134"/>
            <a:ext cx="10058400" cy="1941005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US" sz="44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Hinglish (Hindi-English Code switched) </a:t>
            </a:r>
            <a:br>
              <a:rPr lang="en-US" sz="44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</a:br>
            <a:r>
              <a:rPr lang="en-US" sz="44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Speech Recognition </a:t>
            </a:r>
            <a:endParaRPr lang="en-GB" sz="4400" b="1" dirty="0">
              <a:solidFill>
                <a:srgbClr val="FFFFFF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4A722B18-C738-E15E-ECEA-0838DA7DBB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63752" y="5369748"/>
            <a:ext cx="10058400" cy="1282707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AI/ML for Industry</a:t>
            </a:r>
          </a:p>
          <a:p>
            <a:r>
              <a:rPr lang="en-US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Continuing Education Programme</a:t>
            </a:r>
          </a:p>
          <a:p>
            <a:r>
              <a:rPr lang="en-US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Indian Institute of Technology Delhi</a:t>
            </a:r>
          </a:p>
          <a:p>
            <a:endParaRPr lang="en-US" dirty="0">
              <a:solidFill>
                <a:srgbClr val="FFFFFF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078B105-07B1-0535-6D75-4940D7E6E42A}"/>
              </a:ext>
            </a:extLst>
          </p:cNvPr>
          <p:cNvSpPr txBox="1">
            <a:spLocks/>
          </p:cNvSpPr>
          <p:nvPr/>
        </p:nvSpPr>
        <p:spPr>
          <a:xfrm>
            <a:off x="1097280" y="3656814"/>
            <a:ext cx="10058400" cy="112628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Vineet Kumar Srivastava</a:t>
            </a:r>
          </a:p>
          <a:p>
            <a:endParaRPr lang="en-US" sz="2800" b="1" dirty="0">
              <a:solidFill>
                <a:srgbClr val="FFFFFF"/>
              </a:solidFill>
              <a:latin typeface="Lato" panose="020F0502020204030203" pitchFamily="34" charset="0"/>
              <a:ea typeface="Lato" panose="020F0502020204030203" pitchFamily="34" charset="0"/>
              <a:cs typeface="Lato" panose="020F0502020204030203" pitchFamily="34" charset="0"/>
            </a:endParaRPr>
          </a:p>
          <a:p>
            <a:r>
              <a:rPr lang="en-US" sz="2200" b="1" dirty="0">
                <a:solidFill>
                  <a:srgbClr val="FFFFFF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rPr>
              <a:t>21/02/2026</a:t>
            </a:r>
          </a:p>
        </p:txBody>
      </p:sp>
    </p:spTree>
    <p:extLst>
      <p:ext uri="{BB962C8B-B14F-4D97-AF65-F5344CB8AC3E}">
        <p14:creationId xmlns:p14="http://schemas.microsoft.com/office/powerpoint/2010/main" val="1503790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Code-Switching</a:t>
            </a:r>
          </a:p>
          <a:p>
            <a:pPr marL="0" indent="0">
              <a:buNone/>
            </a:pPr>
            <a:r>
              <a:rPr lang="en-US" dirty="0"/>
              <a:t>   </a:t>
            </a:r>
            <a:r>
              <a:rPr lang="en-US" sz="2000" dirty="0"/>
              <a:t>Practice of alternating between two or more languages or language varieties in a single discourse </a:t>
            </a:r>
          </a:p>
          <a:p>
            <a:pPr marL="0" indent="0">
              <a:buNone/>
            </a:pPr>
            <a:r>
              <a:rPr lang="en-US" sz="2000" dirty="0"/>
              <a:t>    Example: “kal meeting schedule </a:t>
            </a:r>
            <a:r>
              <a:rPr lang="en-US" sz="2000" dirty="0" err="1"/>
              <a:t>kar</a:t>
            </a:r>
            <a:r>
              <a:rPr lang="en-US" sz="2000" dirty="0"/>
              <a:t> </a:t>
            </a:r>
            <a:r>
              <a:rPr lang="en-US" sz="2000" dirty="0" err="1"/>
              <a:t>dena</a:t>
            </a:r>
            <a:r>
              <a:rPr lang="en-US" sz="2000" dirty="0"/>
              <a:t>”</a:t>
            </a:r>
          </a:p>
          <a:p>
            <a:pPr marL="457200" lvl="1" indent="0">
              <a:buNone/>
            </a:pPr>
            <a:r>
              <a:rPr lang="en-US" sz="1400" dirty="0"/>
              <a:t>   kal – Hindi </a:t>
            </a:r>
          </a:p>
          <a:p>
            <a:pPr marL="457200" lvl="1" indent="0">
              <a:buNone/>
            </a:pPr>
            <a:r>
              <a:rPr lang="en-US" sz="1400" dirty="0"/>
              <a:t>   meeting – English </a:t>
            </a:r>
          </a:p>
          <a:p>
            <a:pPr marL="457200" lvl="1" indent="0">
              <a:buNone/>
            </a:pPr>
            <a:r>
              <a:rPr lang="en-US" sz="1400" dirty="0"/>
              <a:t>   schedule – English </a:t>
            </a:r>
          </a:p>
          <a:p>
            <a:pPr marL="457200" lvl="1" indent="0">
              <a:buNone/>
            </a:pPr>
            <a:r>
              <a:rPr lang="en-US" sz="1400" dirty="0"/>
              <a:t>   </a:t>
            </a:r>
            <a:r>
              <a:rPr lang="en-US" sz="1400" dirty="0" err="1"/>
              <a:t>kar</a:t>
            </a:r>
            <a:r>
              <a:rPr lang="en-US" sz="1400" dirty="0"/>
              <a:t> – Hindi </a:t>
            </a:r>
          </a:p>
          <a:p>
            <a:pPr marL="457200" lvl="1" indent="0">
              <a:buNone/>
            </a:pPr>
            <a:r>
              <a:rPr lang="en-US" sz="1400" dirty="0"/>
              <a:t>   </a:t>
            </a:r>
            <a:r>
              <a:rPr lang="en-US" sz="1400" dirty="0" err="1"/>
              <a:t>dena</a:t>
            </a:r>
            <a:r>
              <a:rPr lang="en-US" sz="1400" dirty="0"/>
              <a:t> – Hindi</a:t>
            </a:r>
          </a:p>
          <a:p>
            <a:pPr marL="457200" lvl="1" indent="0">
              <a:buNone/>
            </a:pPr>
            <a:r>
              <a:rPr lang="en-US" sz="1400" dirty="0"/>
              <a:t>   switching within a sentence </a:t>
            </a:r>
          </a:p>
          <a:p>
            <a:pPr marL="0" indent="0">
              <a:buNone/>
            </a:pPr>
            <a:r>
              <a:rPr lang="en-US" dirty="0"/>
              <a:t>       </a:t>
            </a:r>
          </a:p>
          <a:p>
            <a:r>
              <a:rPr lang="en-US" dirty="0"/>
              <a:t>Why code switching is hard for ASR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 dirty="0"/>
              <a:t>Traditional ASR assumes one language, one language model and one phoneme inventory.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 dirty="0"/>
              <a:t>But Hinglish as Hindi grammar as well as English words, Indian accented English, Mixed phonetics and variable pronunciation.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800" dirty="0"/>
              <a:t>Causes confusion in language modelling.</a:t>
            </a:r>
          </a:p>
          <a:p>
            <a:pPr marL="457200" lvl="1" indent="0">
              <a:buNone/>
            </a:pPr>
            <a:endParaRPr lang="en-US" sz="1800" dirty="0"/>
          </a:p>
          <a:p>
            <a:pPr marL="457200" lvl="1" indent="0">
              <a:buNone/>
            </a:pPr>
            <a:endParaRPr lang="en-US" sz="1800" dirty="0"/>
          </a:p>
          <a:p>
            <a:pPr lvl="1">
              <a:buFont typeface="Wingdings" panose="05000000000000000000" pitchFamily="2" charset="2"/>
              <a:buChar char="Ø"/>
            </a:pP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92717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740662-C722-85F5-4F4E-286F099DF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D56950D-0DEC-63D7-1941-C65F153362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Existing ASR systems are trained on monolingual corpora.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ASR has evolved from probabilistic models (Hidden Markov Model, Gaussian Mixture Model) to deep-learning architectures including RNN-T and transformer sequence-to-sequence model like whisper.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Whisper features: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	Multilingual support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	Adaptability to suit specific use-cases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dirty="0"/>
              <a:t>	High accuracy and robustness to noise </a:t>
            </a:r>
          </a:p>
          <a:p>
            <a:pPr marL="457200" lvl="1" indent="0">
              <a:buNone/>
            </a:pPr>
            <a:endParaRPr lang="en-US" sz="1800" dirty="0"/>
          </a:p>
          <a:p>
            <a:pPr marL="457200" lvl="1" indent="0">
              <a:buNone/>
            </a:pPr>
            <a:endParaRPr lang="en-US" sz="1800" dirty="0"/>
          </a:p>
          <a:p>
            <a:pPr lvl="1">
              <a:buFont typeface="Wingdings" panose="05000000000000000000" pitchFamily="2" charset="2"/>
              <a:buChar char="Ø"/>
            </a:pPr>
            <a:endParaRPr lang="en-US" sz="18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BB9062-34FE-D7BC-D1E8-05F01FE2E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5FD8D-8A49-9534-7AC8-8B08D5861A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8504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C8DEAC-54BA-B583-6907-CCE100DD5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3E50F7-CBC5-7E41-1D6A-EB517912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EFCA93D-64BC-ADD3-BC93-C7E29E36B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2328134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Methodology, Datasets, and Tools used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5188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Results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1743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Results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527600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B1AD815-5C8E-0B54-E14C-AAF03EAA6C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18FA631-E5DE-38FB-3631-5247D3FA9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8CAAE-9044-8FCD-0B55-1811F15639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B7CED-DC51-4976-975C-28F89E3EDFC9}" type="slidenum">
              <a:rPr lang="en-GB" smtClean="0"/>
              <a:pPr/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572918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Garamond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628</TotalTime>
  <Words>205</Words>
  <Application>Microsoft Office PowerPoint</Application>
  <PresentationFormat>Widescreen</PresentationFormat>
  <Paragraphs>47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Garamond</vt:lpstr>
      <vt:lpstr>Lato</vt:lpstr>
      <vt:lpstr>Wingdings</vt:lpstr>
      <vt:lpstr>Office Theme</vt:lpstr>
      <vt:lpstr>Hinglish (Hindi-English Code switched)  Speech Recognition </vt:lpstr>
      <vt:lpstr>Background</vt:lpstr>
      <vt:lpstr>Background</vt:lpstr>
      <vt:lpstr>Problem Statement</vt:lpstr>
      <vt:lpstr>Methodology, Datasets, and Tools used</vt:lpstr>
      <vt:lpstr>Results 1</vt:lpstr>
      <vt:lpstr>Results 2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RESPOND PROJECT</dc:title>
  <dc:creator>Ankita</dc:creator>
  <cp:lastModifiedBy>Vineet Srivastava</cp:lastModifiedBy>
  <cp:revision>110</cp:revision>
  <cp:lastPrinted>2021-11-16T14:38:43Z</cp:lastPrinted>
  <dcterms:created xsi:type="dcterms:W3CDTF">2016-11-08T06:06:47Z</dcterms:created>
  <dcterms:modified xsi:type="dcterms:W3CDTF">2026-02-17T13:15:27Z</dcterms:modified>
</cp:coreProperties>
</file>